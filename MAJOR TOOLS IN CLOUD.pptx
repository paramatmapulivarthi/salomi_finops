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FB02F-C469-3899-0C60-0452CFD98D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MAJOR TOOLS IN CLOUD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CE153-67EC-E230-2A7F-F691F0E4E1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AZURE TOOLS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03661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8C688-C6A8-56FB-FCCF-88B939C80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FINOPS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008FD-76E7-EA30-4072-846E03545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operational framework and cultural practice that maximizes the business value of azure cloud.</a:t>
            </a:r>
          </a:p>
          <a:p>
            <a:r>
              <a:rPr lang="en-IN" b="1" dirty="0"/>
              <a:t>The Three Phases:</a:t>
            </a:r>
          </a:p>
          <a:p>
            <a:pPr algn="just">
              <a:buFont typeface="+mj-lt"/>
              <a:buAutoNum type="arabicPeriod"/>
            </a:pPr>
            <a:r>
              <a:rPr lang="en-IN" b="1" dirty="0"/>
              <a:t>Inform: </a:t>
            </a:r>
            <a:r>
              <a:rPr lang="en-IN" i="1" dirty="0"/>
              <a:t>Visibility and allocation of spend.</a:t>
            </a:r>
            <a:r>
              <a:rPr lang="en-IN" b="1" dirty="0"/>
              <a:t> </a:t>
            </a:r>
          </a:p>
          <a:p>
            <a:pPr algn="just">
              <a:buFont typeface="+mj-lt"/>
              <a:buAutoNum type="arabicPeriod"/>
            </a:pPr>
            <a:r>
              <a:rPr lang="en-IN" b="1" dirty="0"/>
              <a:t>Optimize: </a:t>
            </a:r>
            <a:r>
              <a:rPr lang="en-IN" i="1" dirty="0"/>
              <a:t>Resource rightsizing and rate reduction.</a:t>
            </a:r>
            <a:r>
              <a:rPr lang="en-IN" b="1" dirty="0"/>
              <a:t> </a:t>
            </a:r>
          </a:p>
          <a:p>
            <a:pPr algn="just">
              <a:buFont typeface="+mj-lt"/>
              <a:buAutoNum type="arabicPeriod"/>
            </a:pPr>
            <a:r>
              <a:rPr lang="en-IN" b="1" dirty="0"/>
              <a:t>Operate: </a:t>
            </a:r>
            <a:r>
              <a:rPr lang="en-IN" i="1" dirty="0"/>
              <a:t>Continuous governance and automation.</a:t>
            </a:r>
            <a:r>
              <a:rPr lang="en-IN" b="1" dirty="0"/>
              <a:t>      </a:t>
            </a:r>
          </a:p>
          <a:p>
            <a:pPr marL="0" indent="0" algn="just">
              <a:buNone/>
            </a:pPr>
            <a:r>
              <a:rPr lang="en-IN" b="1" dirty="0"/>
              <a:t>     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57245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182E9-D7B9-592D-4477-D4B7C18D4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Native Azure Tools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39140-605C-A6E3-771C-2F812A4CB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761412" cy="4254500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b="1" i="1" dirty="0"/>
              <a:t>Microsoft Cost Management:</a:t>
            </a:r>
          </a:p>
          <a:p>
            <a:pPr marL="0" indent="0">
              <a:buNone/>
            </a:pPr>
            <a:r>
              <a:rPr lang="en-US" b="1" i="1" dirty="0"/>
              <a:t>       </a:t>
            </a:r>
            <a:r>
              <a:rPr lang="en-US" i="1" dirty="0"/>
              <a:t>The “Command Center” for tracking cloud spend, setting budgets, and getting alerts.  </a:t>
            </a:r>
          </a:p>
          <a:p>
            <a:r>
              <a:rPr lang="en-US" b="1" i="1" dirty="0"/>
              <a:t>Azure Advisor:</a:t>
            </a:r>
          </a:p>
          <a:p>
            <a:pPr marL="0" indent="0">
              <a:buNone/>
            </a:pPr>
            <a:r>
              <a:rPr lang="en-US" i="1" dirty="0"/>
              <a:t>       Provides automated recommendations to shut down idle resources or right-size VMs.</a:t>
            </a:r>
          </a:p>
          <a:p>
            <a:r>
              <a:rPr lang="en-US" b="1" i="1" dirty="0"/>
              <a:t>Azure Pricing Calculator:</a:t>
            </a:r>
          </a:p>
          <a:p>
            <a:pPr marL="0" indent="0">
              <a:buNone/>
            </a:pPr>
            <a:r>
              <a:rPr lang="en-US" b="1" i="1" dirty="0"/>
              <a:t>       </a:t>
            </a:r>
            <a:r>
              <a:rPr lang="en-US" i="1" dirty="0"/>
              <a:t>Used for ” Before-You-Buy” cost estimations.</a:t>
            </a:r>
          </a:p>
          <a:p>
            <a:r>
              <a:rPr lang="en-US" b="1" i="1" dirty="0"/>
              <a:t>Azure Policy:</a:t>
            </a:r>
          </a:p>
          <a:p>
            <a:pPr marL="0" indent="0">
              <a:buNone/>
            </a:pPr>
            <a:r>
              <a:rPr lang="en-US" b="1" i="1" dirty="0"/>
              <a:t>       </a:t>
            </a:r>
            <a:r>
              <a:rPr lang="en-US" i="1" dirty="0"/>
              <a:t>Enforces rules (like mandatory tagging) to ensure financial governance.</a:t>
            </a:r>
            <a:endParaRPr lang="en-US" b="1" i="1" dirty="0"/>
          </a:p>
          <a:p>
            <a:endParaRPr lang="en-US" b="1" i="1" dirty="0"/>
          </a:p>
          <a:p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1279343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AD787-BE76-5702-D52E-B3A6CD5E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Advanced Cost Savings Tools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00174-265C-BE13-BD36-BA3048494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Azure reservations:</a:t>
            </a:r>
          </a:p>
          <a:p>
            <a:pPr marL="0" indent="0">
              <a:buNone/>
            </a:pPr>
            <a:r>
              <a:rPr lang="en-IN" i="1" dirty="0"/>
              <a:t>       pre- paying for 1or 3 years of compute to save up to 72%.</a:t>
            </a:r>
          </a:p>
          <a:p>
            <a:r>
              <a:rPr lang="en-IN" b="1" i="1" dirty="0"/>
              <a:t>Azure savings plans :</a:t>
            </a:r>
          </a:p>
          <a:p>
            <a:pPr marL="0" indent="0">
              <a:buNone/>
            </a:pPr>
            <a:r>
              <a:rPr lang="en-IN" b="1" i="1" dirty="0"/>
              <a:t>     </a:t>
            </a:r>
            <a:r>
              <a:rPr lang="en-IN" i="1" dirty="0"/>
              <a:t>Flexible savings for compute regardless of region or OS</a:t>
            </a:r>
            <a:r>
              <a:rPr lang="en-IN" b="1" i="1" dirty="0"/>
              <a:t>.</a:t>
            </a:r>
          </a:p>
          <a:p>
            <a:r>
              <a:rPr lang="en-IN" b="1" i="1" dirty="0"/>
              <a:t>FinOps Toolkit (Open Source):</a:t>
            </a:r>
          </a:p>
          <a:p>
            <a:pPr marL="0" indent="0">
              <a:buNone/>
            </a:pPr>
            <a:r>
              <a:rPr lang="en-IN" b="1" i="1" dirty="0"/>
              <a:t>        </a:t>
            </a:r>
            <a:r>
              <a:rPr lang="en-IN" i="1" dirty="0"/>
              <a:t>Microsoft’s collection of Power BI templates and automation scripts to accelerate FinOps adoption.</a:t>
            </a:r>
            <a:r>
              <a:rPr lang="en-IN" b="1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9440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37C54-7F61-4949-86D4-7ECDF8C7E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Third-Party &amp; Multi-Cloud Solutions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B893D-8049-D9EF-351E-0545AFEA7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i="1" dirty="0"/>
              <a:t>Apptio </a:t>
            </a:r>
            <a:r>
              <a:rPr lang="en-US" b="1" i="1" dirty="0" err="1"/>
              <a:t>Cloudability</a:t>
            </a:r>
            <a:r>
              <a:rPr lang="en-US" b="1" i="1" dirty="0"/>
              <a:t>:</a:t>
            </a:r>
          </a:p>
          <a:p>
            <a:pPr marL="0" indent="0">
              <a:buNone/>
            </a:pPr>
            <a:r>
              <a:rPr lang="en-US" b="1" i="1" dirty="0"/>
              <a:t>        </a:t>
            </a:r>
            <a:r>
              <a:rPr lang="en-US" i="1" dirty="0"/>
              <a:t>Advanced financial modeling and multi-cloud visibility.</a:t>
            </a:r>
          </a:p>
          <a:p>
            <a:r>
              <a:rPr lang="en-US" b="1" i="1" dirty="0" err="1"/>
              <a:t>CloudZero</a:t>
            </a:r>
            <a:r>
              <a:rPr lang="en-US" b="1" i="1" dirty="0"/>
              <a:t>:</a:t>
            </a:r>
          </a:p>
          <a:p>
            <a:pPr marL="0" indent="0">
              <a:buNone/>
            </a:pPr>
            <a:r>
              <a:rPr lang="en-US" b="1" i="1" dirty="0"/>
              <a:t>         </a:t>
            </a:r>
            <a:r>
              <a:rPr lang="en-US" i="1" dirty="0"/>
              <a:t>Connects cloud costs directly to business outcomes (e.g., cost per customer).</a:t>
            </a:r>
          </a:p>
          <a:p>
            <a:r>
              <a:rPr lang="en-US" b="1" i="1" dirty="0" err="1"/>
              <a:t>Kubecost</a:t>
            </a:r>
            <a:r>
              <a:rPr lang="en-US" b="1" i="1" dirty="0"/>
              <a:t>:</a:t>
            </a:r>
          </a:p>
          <a:p>
            <a:pPr marL="0" indent="0">
              <a:buNone/>
            </a:pPr>
            <a:r>
              <a:rPr lang="en-US" b="1" i="1" dirty="0"/>
              <a:t>        </a:t>
            </a:r>
            <a:r>
              <a:rPr lang="en-US" i="1" dirty="0"/>
              <a:t>Essential for monitoring costs inside </a:t>
            </a:r>
            <a:r>
              <a:rPr lang="en-US" b="1" i="1" dirty="0"/>
              <a:t>Azure Kubernetes Service (AKS). </a:t>
            </a:r>
          </a:p>
          <a:p>
            <a:r>
              <a:rPr lang="en-US" b="1" i="1" dirty="0"/>
              <a:t>Turbo360:</a:t>
            </a:r>
          </a:p>
          <a:p>
            <a:pPr marL="0" indent="0">
              <a:buNone/>
            </a:pPr>
            <a:r>
              <a:rPr lang="en-US" i="1" dirty="0"/>
              <a:t>        Focuses specifically on Azure-native resource management and cost monitoring.</a:t>
            </a:r>
          </a:p>
          <a:p>
            <a:pPr marL="0" indent="0">
              <a:buNone/>
            </a:pP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3317319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9F87E-F6A6-193E-6BBD-8AA8BDD95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91A26-57EA-05C8-3DD1-65C76AFB8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Tag Everything: </a:t>
            </a:r>
            <a:r>
              <a:rPr lang="en-US" i="1" dirty="0"/>
              <a:t>No tags = No visibility.</a:t>
            </a:r>
          </a:p>
          <a:p>
            <a:r>
              <a:rPr lang="en-US" b="1" i="1" dirty="0"/>
              <a:t>Automate:</a:t>
            </a:r>
          </a:p>
          <a:p>
            <a:pPr marL="0" indent="0">
              <a:buNone/>
            </a:pPr>
            <a:r>
              <a:rPr lang="en-US" b="1" i="1" dirty="0"/>
              <a:t>        </a:t>
            </a:r>
            <a:r>
              <a:rPr lang="en-US" i="1" dirty="0"/>
              <a:t> Use automated alerts and shutdown schedules.</a:t>
            </a:r>
          </a:p>
          <a:p>
            <a:pPr marL="0" indent="0">
              <a:buNone/>
            </a:pPr>
            <a:r>
              <a:rPr lang="en-US" b="1" i="1" dirty="0"/>
              <a:t>Review Regularly: </a:t>
            </a:r>
            <a:r>
              <a:rPr lang="en-US" i="1" dirty="0"/>
              <a:t>FinOps is a continuous cycle, not a one-time project.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40272963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113</TotalTime>
  <Words>274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 Boardroom</vt:lpstr>
      <vt:lpstr>MAJOR TOOLS IN CLOUD</vt:lpstr>
      <vt:lpstr>AZURE FINOPS</vt:lpstr>
      <vt:lpstr>Native Azure Tools</vt:lpstr>
      <vt:lpstr>Advanced Cost Savings Tools</vt:lpstr>
      <vt:lpstr>Third-Party &amp; Multi-Cloud Solutions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bhavani k</dc:creator>
  <cp:lastModifiedBy>bhavani k</cp:lastModifiedBy>
  <cp:revision>1</cp:revision>
  <dcterms:created xsi:type="dcterms:W3CDTF">2026-04-06T18:08:06Z</dcterms:created>
  <dcterms:modified xsi:type="dcterms:W3CDTF">2026-04-06T20:01:16Z</dcterms:modified>
</cp:coreProperties>
</file>