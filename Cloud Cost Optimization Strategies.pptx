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7" r:id="rId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8825658" cy="2677648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10158984" y="1792224"/>
            <a:ext cx="990599" cy="30479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5923F103-BC34-4FE4-A40E-EDDEECFDA5D0}" type="datetimeFigureOut">
              <a:rPr lang="en-US" dirty="0"/>
              <a:pPr/>
              <a:t>4/7/2026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8951976" y="3227832"/>
            <a:ext cx="3859795" cy="304801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4" y="2603500"/>
            <a:ext cx="8825659" cy="34163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C9CA7B-DFD4-44B5-8C60-D14B8CD1FB59}" type="datetimeFigureOut">
              <a:rPr lang="en-US" dirty="0"/>
              <a:t>4/7/2026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 bwMode="gray"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677645"/>
            <a:ext cx="4351025" cy="2283824"/>
          </a:xfrm>
        </p:spPr>
        <p:txBody>
          <a:bodyPr anchor="ctr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5559" y="2677644"/>
            <a:ext cx="3757545" cy="228382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4E6425-0181-43F2-84FC-787E803FD2F8}" type="datetimeFigureOut">
              <a:rPr lang="en-US" dirty="0"/>
              <a:t>4/7/2026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4954" y="2603500"/>
            <a:ext cx="4825158" cy="341630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8712" y="2603500"/>
            <a:ext cx="4825159" cy="34163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DB8791-F1B0-41E7-B7FD-A781E65C4266}" type="datetimeFigureOut">
              <a:rPr lang="en-US" dirty="0"/>
              <a:t>4/7/2026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48251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4954" y="3179762"/>
            <a:ext cx="4825158" cy="2840039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8712" y="2603500"/>
            <a:ext cx="482515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8712" y="3179762"/>
            <a:ext cx="4825159" cy="2840039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DD63B2-E120-4ED8-B27B-C685F510A5FE}" type="datetimeFigureOut">
              <a:rPr lang="en-US" dirty="0"/>
              <a:t>4/7/2026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A18ACC-A947-437B-A130-35BD54FDF1E9}" type="datetimeFigureOut">
              <a:rPr lang="en-US" dirty="0"/>
              <a:t>4/7/2026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8D7E02-BCB8-4D50-A234-369438C08659}" type="datetimeFigureOut">
              <a:rPr lang="en-US" dirty="0"/>
              <a:t>4/7/2026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Rectangle 6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295400"/>
            <a:ext cx="2793158" cy="16002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81146" y="1447800"/>
            <a:ext cx="5190066" cy="45720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129280"/>
            <a:ext cx="2793158" cy="2895599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E86A4C-8E40-4F87-A4F0-01A0687C5742}" type="datetimeFigureOut">
              <a:rPr lang="en-US" dirty="0"/>
              <a:t>4/7/2026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693333"/>
            <a:ext cx="3865134" cy="1735667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47870" y="1143000"/>
            <a:ext cx="3227193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657600"/>
            <a:ext cx="3859212" cy="13716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E72C73-2D91-4E12-BA25-F0AA0C03599B}" type="datetimeFigureOut">
              <a:rPr lang="en-US" dirty="0"/>
              <a:t>4/7/2026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4969927"/>
            <a:ext cx="8825659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4" y="685800"/>
            <a:ext cx="8825659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536665"/>
            <a:ext cx="8825658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3A1CC3-2375-41D4-9E03-427CAF2A4C1A}" type="datetimeFigureOut">
              <a:rPr lang="en-US" dirty="0"/>
              <a:t>4/7/2026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8798" y="1063417"/>
            <a:ext cx="8831816" cy="1372986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543300"/>
            <a:ext cx="8825659" cy="24765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F16868-8199-4C2C-A5B1-63AEE139F88E}" type="datetimeFigureOut">
              <a:rPr lang="en-US" dirty="0"/>
              <a:t>4/7/2026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7" name="Rectangle 1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Oval 24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6" name="TextBox 15"/>
          <p:cNvSpPr txBox="1"/>
          <p:nvPr/>
        </p:nvSpPr>
        <p:spPr bwMode="gray">
          <a:xfrm>
            <a:off x="881566" y="607336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 bwMode="gray">
          <a:xfrm>
            <a:off x="9884458" y="2613787"/>
            <a:ext cx="65276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1878" y="982134"/>
            <a:ext cx="8453906" cy="2696632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945945" y="3678766"/>
            <a:ext cx="773121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029199"/>
            <a:ext cx="9244897" cy="997857"/>
          </a:xfrm>
        </p:spPr>
        <p:txBody>
          <a:bodyPr anchor="ctr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D9FF7F-6988-44CC-821B-644E70CD2F73}" type="datetimeFigureOut">
              <a:rPr lang="en-US" dirty="0"/>
              <a:t>4/7/2026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370667"/>
            <a:ext cx="8825660" cy="1822514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5024967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2C299-16B2-4475-990D-751901EACC14}" type="datetimeFigureOut">
              <a:rPr lang="en-US" dirty="0"/>
              <a:t>4/7/2026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2"/>
            <a:ext cx="314187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3" y="3179764"/>
            <a:ext cx="314187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1" y="2603500"/>
            <a:ext cx="314700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1" y="3179763"/>
            <a:ext cx="314700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8135" y="2603501"/>
            <a:ext cx="314573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8329" y="3179762"/>
            <a:ext cx="3145536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40397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77240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E86839-B9D8-4651-8783-F325ECE74E65}" type="datetimeFigureOut">
              <a:rPr lang="en-US" dirty="0"/>
              <a:t>4/7/2026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532844"/>
            <a:ext cx="30504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4553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54954" y="5109106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865" y="4532844"/>
            <a:ext cx="3050438" cy="576263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748462" y="2603500"/>
            <a:ext cx="2691243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70172" y="5109105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82775" y="4532845"/>
            <a:ext cx="305109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63031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82775" y="5109104"/>
            <a:ext cx="3051096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43" name="Straight Connector 42"/>
          <p:cNvCxnSpPr/>
          <p:nvPr/>
        </p:nvCxnSpPr>
        <p:spPr>
          <a:xfrm>
            <a:off x="440583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>
            <a:off x="7797802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484F64-32F6-45C5-931F-ADC1662401D0}" type="datetimeFigureOut">
              <a:rPr lang="en-US" dirty="0"/>
              <a:t>4/7/2026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61111" y="6391838"/>
            <a:ext cx="3644282" cy="304801"/>
          </a:xfrm>
        </p:spPr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2603500"/>
            <a:ext cx="8825659" cy="3416300"/>
          </a:xfrm>
        </p:spPr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95439" y="6391838"/>
            <a:ext cx="990599" cy="304799"/>
          </a:xfrm>
        </p:spPr>
        <p:txBody>
          <a:bodyPr/>
          <a:lstStyle/>
          <a:p>
            <a:fld id="{53086D93-FCAC-47E0-A2EE-787E62CA814C}" type="datetimeFigureOut">
              <a:rPr lang="en-US" dirty="0"/>
              <a:t>4/7/2026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 bwMode="gray"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85235" y="1278467"/>
            <a:ext cx="1409965" cy="4748590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1278467"/>
            <a:ext cx="6256025" cy="474859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53104" y="6391838"/>
            <a:ext cx="992135" cy="304799"/>
          </a:xfrm>
        </p:spPr>
        <p:txBody>
          <a:bodyPr/>
          <a:lstStyle/>
          <a:p>
            <a:fld id="{CDA879A6-0FD0-4734-A311-86BFCA472E6E}" type="datetimeFigureOut">
              <a:rPr lang="en-US" dirty="0"/>
              <a:t>4/7/2026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7" name="Rectangle 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4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1154954" y="973668"/>
            <a:ext cx="876141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8761413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 i="0">
                <a:solidFill>
                  <a:schemeClr val="accent1"/>
                </a:solidFill>
              </a:defRPr>
            </a:lvl1pPr>
          </a:lstStyle>
          <a:p>
            <a:fld id="{2BE451C3-0FF4-47C4-B829-773ADF60F88C}" type="datetimeFigureOut">
              <a:rPr lang="en-US" dirty="0"/>
              <a:t>4/7/2026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1" i="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73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8" r:id="rId9"/>
    <p:sldLayoutId id="2147483667" r:id="rId10"/>
    <p:sldLayoutId id="2147483661" r:id="rId11"/>
    <p:sldLayoutId id="2147483672" r:id="rId12"/>
    <p:sldLayoutId id="2147483662" r:id="rId13"/>
    <p:sldLayoutId id="2147483669" r:id="rId14"/>
    <p:sldLayoutId id="2147483670" r:id="rId15"/>
    <p:sldLayoutId id="2147483658" r:id="rId16"/>
    <p:sldLayoutId id="2147483659" r:id="rId17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36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C19A27-24B2-7043-96A0-EEE25483A7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Cloud Cost Optimization Strategies</a:t>
            </a:r>
            <a:endParaRPr lang="en-IN" b="1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20464CBB-C0C5-0247-4F57-D9575F756664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012723" y="2197600"/>
            <a:ext cx="8632722" cy="456699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76176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1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Google Sans"/>
              </a:rPr>
              <a:t>Rightsizing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: </a:t>
            </a:r>
            <a:r>
              <a:rPr lang="en-US" altLang="en-US" sz="2400" dirty="0">
                <a:solidFill>
                  <a:schemeClr val="tx1"/>
                </a:solidFill>
                <a:latin typeface="Google Sans"/>
              </a:rPr>
              <a:t>Adjusting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 instance types and sizes to match actual utilization patterns (e.g., downsizing over-provisioned servers).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Google San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sz="2400" b="1" i="1" dirty="0">
                <a:solidFill>
                  <a:srgbClr val="FF0000"/>
                </a:solidFill>
                <a:latin typeface="Google Sans"/>
              </a:rPr>
              <a:t>Rate</a:t>
            </a:r>
            <a:r>
              <a:rPr kumimoji="0" lang="en-US" altLang="en-US" sz="2400" b="1" i="1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Google Sans"/>
              </a:rPr>
              <a:t> Optimization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: Leveraging commitment-based discounts like AWS Savings Plans or Reserved Instances for predictable workloads.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Google San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sz="2400" b="1" i="1" dirty="0">
                <a:solidFill>
                  <a:srgbClr val="FF0000"/>
                </a:solidFill>
                <a:latin typeface="Google Sans"/>
              </a:rPr>
              <a:t>Spot</a:t>
            </a:r>
            <a:r>
              <a:rPr kumimoji="0" lang="en-US" altLang="en-US" sz="2400" b="1" i="1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Google Sans"/>
              </a:rPr>
              <a:t> </a:t>
            </a:r>
            <a:r>
              <a:rPr lang="en-US" altLang="en-US" sz="2400" b="1" i="1" dirty="0">
                <a:solidFill>
                  <a:srgbClr val="FF0000"/>
                </a:solidFill>
                <a:latin typeface="Google Sans"/>
              </a:rPr>
              <a:t>Instances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: Using spare cloud capacity at steep discounts for fault-tolerant or batch workloads.</a:t>
            </a:r>
            <a:endParaRPr lang="en-US" altLang="en-US" sz="2400" dirty="0">
              <a:solidFill>
                <a:schemeClr val="tx1"/>
              </a:solidFill>
              <a:latin typeface="Google San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Google San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1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Google Sans"/>
              </a:rPr>
              <a:t>Automation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: Implementing policies that automatically delete orphaned storage volumes, unattached IP addresses, or idle resources.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3216707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20</TotalTime>
  <Words>77</Words>
  <Application>Microsoft Office PowerPoint</Application>
  <PresentationFormat>Widescreen</PresentationFormat>
  <Paragraphs>8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Century Gothic</vt:lpstr>
      <vt:lpstr>Google Sans</vt:lpstr>
      <vt:lpstr>Wingdings 3</vt:lpstr>
      <vt:lpstr>Ion Boardroom</vt:lpstr>
      <vt:lpstr>Cloud Cost Optimization Strategies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bhavani k</dc:creator>
  <cp:lastModifiedBy>bhavani k</cp:lastModifiedBy>
  <cp:revision>1</cp:revision>
  <dcterms:created xsi:type="dcterms:W3CDTF">2026-04-07T09:40:10Z</dcterms:created>
  <dcterms:modified xsi:type="dcterms:W3CDTF">2026-04-07T10:00:48Z</dcterms:modified>
</cp:coreProperties>
</file>